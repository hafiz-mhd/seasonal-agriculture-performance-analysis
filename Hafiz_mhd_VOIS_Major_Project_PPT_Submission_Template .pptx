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9"/>
  </p:handoutMasterIdLst>
  <p:sldIdLst>
    <p:sldId id="338" r:id="rId3"/>
    <p:sldId id="327" r:id="rId4"/>
    <p:sldId id="315" r:id="rId5"/>
    <p:sldId id="329" r:id="rId6"/>
    <p:sldId id="302" r:id="rId7"/>
    <p:sldId id="339" r:id="rId9"/>
    <p:sldId id="340" r:id="rId10"/>
    <p:sldId id="344" r:id="rId11"/>
    <p:sldId id="345" r:id="rId12"/>
    <p:sldId id="346" r:id="rId13"/>
    <p:sldId id="347"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1" userDrawn="1">
          <p15:clr>
            <a:srgbClr val="A4A3A4"/>
          </p15:clr>
        </p15:guide>
        <p15:guide id="2" pos="427"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41"/>
        <p:guide pos="427"/>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ustomXml" Target="../customXml/item3.xml"/><Relationship Id="rId24" Type="http://schemas.openxmlformats.org/officeDocument/2006/relationships/customXml" Target="../customXml/item2.xml"/><Relationship Id="rId23" Type="http://schemas.openxmlformats.org/officeDocument/2006/relationships/customXml" Target="../customXml/item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4.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7.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0" y="3714750"/>
            <a:ext cx="5477510" cy="861695"/>
          </a:xfrm>
        </p:spPr>
        <p:txBody>
          <a:bodyPr vert="horz" lIns="91440" tIns="45720" rIns="91440" bIns="45720" rtlCol="0" anchor="t">
            <a:normAutofit fontScale="90000"/>
          </a:bodyPr>
          <a:lstStyle/>
          <a:p>
            <a:pPr algn="r"/>
            <a:r>
              <a:rPr lang="en-US" b="0" dirty="0">
                <a:solidFill>
                  <a:schemeClr val="tx1"/>
                </a:solidFill>
              </a:rPr>
              <a:t>[Student Name: AR Hafiz Muhammed  </a:t>
            </a:r>
            <a:endParaRPr lang="en-IN" b="0" dirty="0">
              <a:solidFill>
                <a:schemeClr val="tx1"/>
              </a:solidFill>
            </a:endParaRPr>
          </a:p>
          <a:p>
            <a:pPr algn="r"/>
            <a:r>
              <a:rPr lang="en-US" b="0" dirty="0">
                <a:solidFill>
                  <a:schemeClr val="tx1"/>
                </a:solidFill>
              </a:rPr>
              <a:t>College Name- Saintgits  College of Engineering ]</a:t>
            </a:r>
            <a:endParaRPr lang="en-IN" b="0" dirty="0">
              <a:solidFill>
                <a:schemeClr val="tx1"/>
              </a:solidFill>
            </a:endParaRPr>
          </a:p>
        </p:txBody>
      </p:sp>
      <p:sp>
        <p:nvSpPr>
          <p:cNvPr id="4" name="Title 3"/>
          <p:cNvSpPr>
            <a:spLocks noGrp="1"/>
          </p:cNvSpPr>
          <p:nvPr>
            <p:ph type="title"/>
          </p:nvPr>
        </p:nvSpPr>
        <p:spPr>
          <a:xfrm>
            <a:off x="678180" y="2709545"/>
            <a:ext cx="9588500" cy="743585"/>
          </a:xfrm>
        </p:spPr>
        <p:txBody>
          <a:bodyPr>
            <a:normAutofit fontScale="90000"/>
          </a:bodyPr>
          <a:lstStyle/>
          <a:p>
            <a:pPr algn="ctr"/>
            <a:r>
              <a:rPr lang="en-GB" sz="3200" dirty="0"/>
              <a:t>Project Title -</a:t>
            </a:r>
            <a:r>
              <a:rPr lang="en-US" altLang="en-GB" sz="3200" dirty="0"/>
              <a:t> </a:t>
            </a:r>
            <a:r>
              <a:rPr lang="en-US" altLang="en-US" sz="3200" dirty="0"/>
              <a:t>SEASONAL AGRICULTURE PERFORMANCE             ANALYSIS</a:t>
            </a:r>
            <a:endParaRPr lang="en-US" altLang="en-US" sz="3200"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957406" y="4576469"/>
            <a:ext cx="3176362" cy="922020"/>
          </a:xfrm>
          <a:prstGeom prst="rect">
            <a:avLst/>
          </a:prstGeom>
          <a:noFill/>
        </p:spPr>
        <p:txBody>
          <a:bodyPr wrap="square" rtlCol="0">
            <a:spAutoFit/>
          </a:bodyPr>
          <a:lstStyle/>
          <a:p>
            <a:r>
              <a:rPr lang="en-US" b="1" dirty="0"/>
              <a:t>AICTE STU ID : (</a:t>
            </a:r>
            <a:r>
              <a:rPr lang="en-US" altLang="en-US" b="1" dirty="0"/>
              <a:t>STU6a6908c93b5601785268425</a:t>
            </a:r>
            <a:r>
              <a:rPr lang="en-US" b="1" dirty="0"/>
              <a:t>)</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pPr>
              <a:lnSpc>
                <a:spcPct val="100000"/>
              </a:lnSpc>
            </a:pPr>
            <a:r>
              <a:rPr lang="en-GB" dirty="0"/>
              <a:t>Project Description</a:t>
            </a:r>
            <a:br>
              <a:rPr lang="en-GB" dirty="0"/>
            </a:br>
            <a:endParaRPr lang="en-IN" sz="1555"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4" name="Text Box 3"/>
          <p:cNvSpPr txBox="1"/>
          <p:nvPr/>
        </p:nvSpPr>
        <p:spPr>
          <a:xfrm>
            <a:off x="554355" y="1629410"/>
            <a:ext cx="6061075" cy="4831080"/>
          </a:xfrm>
          <a:prstGeom prst="rect">
            <a:avLst/>
          </a:prstGeom>
          <a:noFill/>
        </p:spPr>
        <p:txBody>
          <a:bodyPr wrap="square" rtlCol="0">
            <a:spAutoFit/>
          </a:bodyPr>
          <a:p>
            <a:pPr indent="0">
              <a:buFont typeface="Wingdings" panose="05000000000000000000" charset="0"/>
              <a:buNone/>
            </a:pPr>
            <a:r>
              <a:rPr lang="en-US" altLang="en-US" sz="1400"/>
              <a:t>Seasonal Agriculture Performance Analysis is a data analytics project that studies agricultural performance using a dataset containing information about:</a:t>
            </a:r>
            <a:endParaRPr lang="en-US" altLang="en-US" sz="1400"/>
          </a:p>
          <a:p>
            <a:pPr marL="285750" indent="-285750">
              <a:buFont typeface="Wingdings" panose="05000000000000000000" charset="0"/>
              <a:buChar char="§"/>
            </a:pPr>
            <a:endParaRPr lang="en-US" altLang="en-US" sz="1400"/>
          </a:p>
          <a:p>
            <a:pPr marL="285750" indent="-285750">
              <a:buFont typeface="Wingdings" panose="05000000000000000000" charset="0"/>
              <a:buChar char="§"/>
            </a:pPr>
            <a:r>
              <a:rPr lang="en-US" altLang="en-US" sz="1400"/>
              <a:t>Crops and seasons</a:t>
            </a:r>
            <a:endParaRPr lang="en-US" altLang="en-US" sz="1400"/>
          </a:p>
          <a:p>
            <a:pPr marL="285750" indent="-285750">
              <a:buFont typeface="Wingdings" panose="05000000000000000000" charset="0"/>
              <a:buChar char="§"/>
            </a:pPr>
            <a:r>
              <a:rPr lang="en-US" altLang="en-US" sz="1400"/>
              <a:t>Farm area</a:t>
            </a:r>
            <a:endParaRPr lang="en-US" altLang="en-US" sz="1400"/>
          </a:p>
          <a:p>
            <a:pPr marL="285750" indent="-285750">
              <a:buFont typeface="Wingdings" panose="05000000000000000000" charset="0"/>
              <a:buChar char="§"/>
            </a:pPr>
            <a:r>
              <a:rPr lang="en-US" altLang="en-US" sz="1400"/>
              <a:t>Rainfall and temperature</a:t>
            </a:r>
            <a:endParaRPr lang="en-US" altLang="en-US" sz="1400"/>
          </a:p>
          <a:p>
            <a:pPr marL="285750" indent="-285750">
              <a:buFont typeface="Wingdings" panose="05000000000000000000" charset="0"/>
              <a:buChar char="§"/>
            </a:pPr>
            <a:r>
              <a:rPr lang="en-US" altLang="en-US" sz="1400"/>
              <a:t>Humidity and sunlight</a:t>
            </a:r>
            <a:endParaRPr lang="en-US" altLang="en-US" sz="1400"/>
          </a:p>
          <a:p>
            <a:pPr marL="285750" indent="-285750">
              <a:buFont typeface="Wingdings" panose="05000000000000000000" charset="0"/>
              <a:buChar char="§"/>
            </a:pPr>
            <a:r>
              <a:rPr lang="en-US" altLang="en-US" sz="1400"/>
              <a:t>Soil characteristics</a:t>
            </a:r>
            <a:endParaRPr lang="en-US" altLang="en-US" sz="1400"/>
          </a:p>
          <a:p>
            <a:pPr marL="285750" indent="-285750">
              <a:buFont typeface="Wingdings" panose="05000000000000000000" charset="0"/>
              <a:buChar char="§"/>
            </a:pPr>
            <a:r>
              <a:rPr lang="en-US" altLang="en-US" sz="1400"/>
              <a:t>Fertilizer and pesticide usage</a:t>
            </a:r>
            <a:endParaRPr lang="en-US" altLang="en-US" sz="1400"/>
          </a:p>
          <a:p>
            <a:pPr marL="285750" indent="-285750">
              <a:buFont typeface="Wingdings" panose="05000000000000000000" charset="0"/>
              <a:buChar char="§"/>
            </a:pPr>
            <a:r>
              <a:rPr lang="en-US" altLang="en-US" sz="1400"/>
              <a:t>Irrigation methods</a:t>
            </a:r>
            <a:endParaRPr lang="en-US" altLang="en-US" sz="1400"/>
          </a:p>
          <a:p>
            <a:pPr marL="285750" indent="-285750">
              <a:buFont typeface="Wingdings" panose="05000000000000000000" charset="0"/>
              <a:buChar char="§"/>
            </a:pPr>
            <a:r>
              <a:rPr lang="en-US" altLang="en-US" sz="1400"/>
              <a:t>Crop yield and production</a:t>
            </a:r>
            <a:endParaRPr lang="en-US" altLang="en-US" sz="1400"/>
          </a:p>
          <a:p>
            <a:pPr marL="285750" indent="-285750">
              <a:buFont typeface="Wingdings" panose="05000000000000000000" charset="0"/>
              <a:buChar char="§"/>
            </a:pPr>
            <a:r>
              <a:rPr lang="en-US" altLang="en-US" sz="1400"/>
              <a:t>Revenue, cost and profit</a:t>
            </a:r>
            <a:endParaRPr lang="en-US" altLang="en-US" sz="1400"/>
          </a:p>
          <a:p>
            <a:pPr marL="285750" indent="-285750">
              <a:buFont typeface="Wingdings" panose="05000000000000000000" charset="0"/>
              <a:buChar char="§"/>
            </a:pPr>
            <a:r>
              <a:rPr lang="en-US" altLang="en-US" sz="1400"/>
              <a:t>Water usage and efficiency</a:t>
            </a:r>
            <a:endParaRPr lang="en-US" altLang="en-US" sz="1400"/>
          </a:p>
          <a:p>
            <a:pPr marL="285750" indent="-285750">
              <a:buFont typeface="Wingdings" panose="05000000000000000000" charset="0"/>
              <a:buChar char="§"/>
            </a:pPr>
            <a:r>
              <a:rPr lang="en-US" altLang="en-US" sz="1400"/>
              <a:t>Disease and pest risk</a:t>
            </a:r>
            <a:endParaRPr lang="en-US" altLang="en-US" sz="1400"/>
          </a:p>
          <a:p>
            <a:pPr marL="285750" indent="-285750">
              <a:buFont typeface="Wingdings" panose="05000000000000000000" charset="0"/>
              <a:buChar char="§"/>
            </a:pPr>
            <a:endParaRPr lang="en-US" altLang="en-US" sz="1400"/>
          </a:p>
          <a:p>
            <a:pPr indent="0">
              <a:buFont typeface="Wingdings" panose="05000000000000000000" charset="0"/>
              <a:buNone/>
            </a:pPr>
            <a:r>
              <a:rPr lang="en-US" altLang="en-US" sz="1400"/>
              <a:t>The project uses Python and data visualization techniques to clean, analyze and visualize the dataset.</a:t>
            </a:r>
            <a:endParaRPr lang="en-US" altLang="en-US" sz="1400"/>
          </a:p>
          <a:p>
            <a:pPr marL="285750" indent="-285750">
              <a:buFont typeface="Wingdings" panose="05000000000000000000" charset="0"/>
              <a:buChar char="§"/>
            </a:pPr>
            <a:endParaRPr lang="en-US" altLang="en-US" sz="1400"/>
          </a:p>
          <a:p>
            <a:pPr indent="0">
              <a:buFont typeface="Wingdings" panose="05000000000000000000" charset="0"/>
              <a:buNone/>
            </a:pPr>
            <a:r>
              <a:rPr lang="en-US" altLang="en-US" sz="1400"/>
              <a:t>The analysis focuses on identifying seasonal differences, crop performance, profitability, resource efficiency and relationships between agricultural factors.</a:t>
            </a:r>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619760" y="1036320"/>
            <a:ext cx="7904480" cy="6046470"/>
          </a:xfrm>
        </p:spPr>
        <p:txBody>
          <a:bodyPr>
            <a:normAutofit fontScale="25000"/>
          </a:bodyPr>
          <a:lstStyle/>
          <a:p>
            <a:pPr marL="0" indent="0" algn="l" fontAlgn="auto">
              <a:lnSpc>
                <a:spcPct val="150000"/>
              </a:lnSpc>
              <a:spcBef>
                <a:spcPts val="600"/>
              </a:spcBef>
              <a:buSzPct val="100000"/>
              <a:buNone/>
            </a:pPr>
            <a:r>
              <a:rPr lang="en-US" altLang="en-US" sz="7200" b="1" dirty="0">
                <a:solidFill>
                  <a:schemeClr val="bg2">
                    <a:lumMod val="10000"/>
                  </a:schemeClr>
                </a:solidFill>
              </a:rPr>
              <a:t>Farmers</a:t>
            </a:r>
            <a:endParaRPr lang="en-US" altLang="en-US" sz="7200" b="1" dirty="0">
              <a:solidFill>
                <a:schemeClr val="bg2">
                  <a:lumMod val="10000"/>
                </a:schemeClr>
              </a:solidFill>
            </a:endParaRPr>
          </a:p>
          <a:p>
            <a:pPr algn="l" fontAlgn="auto">
              <a:lnSpc>
                <a:spcPct val="150000"/>
              </a:lnSpc>
              <a:spcBef>
                <a:spcPts val="0"/>
              </a:spcBef>
              <a:buClr>
                <a:srgbClr val="000000"/>
              </a:buClr>
              <a:buSzPct val="100000"/>
              <a:buFont typeface="Wingdings" panose="05000000000000000000" charset="0"/>
              <a:buChar char="§"/>
            </a:pPr>
            <a:r>
              <a:rPr lang="en-US" altLang="en-US" sz="6400" dirty="0">
                <a:solidFill>
                  <a:schemeClr val="bg2">
                    <a:lumMod val="10000"/>
                  </a:schemeClr>
                </a:solidFill>
              </a:rPr>
              <a:t>Compare crop performance across seasons.</a:t>
            </a:r>
            <a:endParaRPr lang="en-US" altLang="en-US" sz="6400" dirty="0">
              <a:solidFill>
                <a:schemeClr val="bg2">
                  <a:lumMod val="10000"/>
                </a:schemeClr>
              </a:solidFill>
            </a:endParaRPr>
          </a:p>
          <a:p>
            <a:pPr algn="l">
              <a:lnSpc>
                <a:spcPct val="150000"/>
              </a:lnSpc>
              <a:buClr>
                <a:srgbClr val="000000"/>
              </a:buClr>
              <a:buSzPct val="100000"/>
            </a:pPr>
            <a:r>
              <a:rPr lang="en-US" altLang="en-US" sz="6400" dirty="0">
                <a:solidFill>
                  <a:schemeClr val="bg2">
                    <a:lumMod val="10000"/>
                  </a:schemeClr>
                </a:solidFill>
              </a:rPr>
              <a:t>Understand resource usage and profitability.</a:t>
            </a:r>
            <a:endParaRPr lang="en-US" altLang="en-US" sz="6400" dirty="0">
              <a:solidFill>
                <a:schemeClr val="bg2">
                  <a:lumMod val="10000"/>
                </a:schemeClr>
              </a:solidFill>
            </a:endParaRPr>
          </a:p>
          <a:p>
            <a:pPr marL="0" indent="0" algn="l" fontAlgn="auto">
              <a:lnSpc>
                <a:spcPct val="150000"/>
              </a:lnSpc>
              <a:spcBef>
                <a:spcPts val="0"/>
              </a:spcBef>
              <a:buSzPct val="100000"/>
              <a:buNone/>
            </a:pPr>
            <a:r>
              <a:rPr lang="en-US" altLang="en-US" sz="7200" b="1" dirty="0">
                <a:solidFill>
                  <a:schemeClr val="bg2">
                    <a:lumMod val="10000"/>
                  </a:schemeClr>
                </a:solidFill>
              </a:rPr>
              <a:t>Agricultural Planners</a:t>
            </a:r>
            <a:endParaRPr lang="en-US" altLang="en-US" sz="7200" b="1" dirty="0">
              <a:solidFill>
                <a:schemeClr val="bg2">
                  <a:lumMod val="10000"/>
                </a:schemeClr>
              </a:solidFill>
            </a:endParaRPr>
          </a:p>
          <a:p>
            <a:pPr marL="0" indent="0" algn="l" fontAlgn="auto">
              <a:lnSpc>
                <a:spcPct val="150000"/>
              </a:lnSpc>
              <a:spcBef>
                <a:spcPts val="0"/>
              </a:spcBef>
              <a:buClr>
                <a:srgbClr val="000000"/>
              </a:buClr>
              <a:buSzPct val="100000"/>
            </a:pPr>
            <a:r>
              <a:rPr lang="en-US" altLang="en-US" sz="5600" dirty="0"/>
              <a:t>     </a:t>
            </a:r>
            <a:r>
              <a:rPr lang="en-US" altLang="en-US" sz="6400" dirty="0"/>
              <a:t> </a:t>
            </a:r>
            <a:r>
              <a:rPr lang="en-US" altLang="en-US" sz="6400" dirty="0">
                <a:solidFill>
                  <a:schemeClr val="bg2">
                    <a:lumMod val="10000"/>
                  </a:schemeClr>
                </a:solidFill>
              </a:rPr>
              <a:t>Identify seasonal agricultural patterns.</a:t>
            </a:r>
            <a:endParaRPr lang="en-US" altLang="en-US" sz="6400" dirty="0">
              <a:solidFill>
                <a:schemeClr val="bg2">
                  <a:lumMod val="10000"/>
                </a:schemeClr>
              </a:solidFill>
            </a:endParaRPr>
          </a:p>
          <a:p>
            <a:pPr marL="0" indent="0" algn="l">
              <a:lnSpc>
                <a:spcPct val="150000"/>
              </a:lnSpc>
              <a:buClr>
                <a:srgbClr val="000000"/>
              </a:buClr>
              <a:buSzPct val="100000"/>
            </a:pPr>
            <a:r>
              <a:rPr lang="en-US" altLang="en-US" sz="6400" dirty="0">
                <a:solidFill>
                  <a:schemeClr val="bg2">
                    <a:lumMod val="10000"/>
                  </a:schemeClr>
                </a:solidFill>
              </a:rPr>
              <a:t>      Support planning and resource allocation.</a:t>
            </a:r>
            <a:endParaRPr lang="en-US" altLang="en-US" sz="6400" dirty="0">
              <a:solidFill>
                <a:schemeClr val="bg2">
                  <a:lumMod val="10000"/>
                </a:schemeClr>
              </a:solidFill>
            </a:endParaRPr>
          </a:p>
          <a:p>
            <a:pPr marL="0" indent="0" algn="l" fontAlgn="auto">
              <a:lnSpc>
                <a:spcPct val="150000"/>
              </a:lnSpc>
              <a:spcBef>
                <a:spcPts val="0"/>
              </a:spcBef>
              <a:buSzPct val="100000"/>
              <a:buNone/>
            </a:pPr>
            <a:r>
              <a:rPr lang="en-US" altLang="en-US" sz="7200" b="1" dirty="0">
                <a:solidFill>
                  <a:schemeClr val="bg2">
                    <a:lumMod val="10000"/>
                  </a:schemeClr>
                </a:solidFill>
              </a:rPr>
              <a:t>Agricultural Researchers</a:t>
            </a:r>
            <a:endParaRPr lang="en-US" altLang="en-US" sz="7200" b="1" dirty="0">
              <a:solidFill>
                <a:schemeClr val="bg2">
                  <a:lumMod val="10000"/>
                </a:schemeClr>
              </a:solidFill>
            </a:endParaRPr>
          </a:p>
          <a:p>
            <a:pPr marL="0" indent="0" algn="l" fontAlgn="auto">
              <a:lnSpc>
                <a:spcPct val="150000"/>
              </a:lnSpc>
              <a:spcBef>
                <a:spcPts val="0"/>
              </a:spcBef>
              <a:buClr>
                <a:srgbClr val="000000"/>
              </a:buClr>
              <a:buSzPct val="100000"/>
            </a:pPr>
            <a:r>
              <a:rPr lang="en-US" altLang="en-US" sz="5600" dirty="0"/>
              <a:t>    </a:t>
            </a:r>
            <a:r>
              <a:rPr lang="en-US" altLang="en-US" sz="6400" dirty="0">
                <a:solidFill>
                  <a:schemeClr val="bg2">
                    <a:lumMod val="10000"/>
                  </a:schemeClr>
                </a:solidFill>
              </a:rPr>
              <a:t>  Study relationships between environmental and farming factors.</a:t>
            </a:r>
            <a:endParaRPr lang="en-US" altLang="en-US" sz="6400" dirty="0"/>
          </a:p>
          <a:p>
            <a:pPr marL="0" indent="0" algn="l" fontAlgn="auto">
              <a:lnSpc>
                <a:spcPct val="150000"/>
              </a:lnSpc>
              <a:spcBef>
                <a:spcPts val="0"/>
              </a:spcBef>
              <a:buSzPct val="100000"/>
              <a:buNone/>
            </a:pPr>
            <a:r>
              <a:rPr lang="en-US" altLang="en-US" sz="7200" b="1" dirty="0">
                <a:solidFill>
                  <a:schemeClr val="bg2">
                    <a:lumMod val="10000"/>
                  </a:schemeClr>
                </a:solidFill>
              </a:rPr>
              <a:t>Government / Agricultural Departments</a:t>
            </a:r>
            <a:endParaRPr lang="en-US" altLang="en-US" sz="5600" dirty="0">
              <a:solidFill>
                <a:schemeClr val="bg2">
                  <a:lumMod val="10000"/>
                </a:schemeClr>
              </a:solidFill>
            </a:endParaRPr>
          </a:p>
          <a:p>
            <a:pPr marL="0" indent="0" algn="l" fontAlgn="auto">
              <a:lnSpc>
                <a:spcPct val="150000"/>
              </a:lnSpc>
              <a:spcBef>
                <a:spcPts val="0"/>
              </a:spcBef>
              <a:buClr>
                <a:srgbClr val="000000"/>
              </a:buClr>
              <a:buSzPct val="100000"/>
            </a:pPr>
            <a:r>
              <a:rPr lang="en-US" altLang="en-US" sz="5600" dirty="0"/>
              <a:t>    </a:t>
            </a:r>
            <a:r>
              <a:rPr lang="en-US" altLang="en-US" sz="6400" dirty="0"/>
              <a:t>  </a:t>
            </a:r>
            <a:r>
              <a:rPr lang="en-US" altLang="en-US" sz="6400" dirty="0">
                <a:solidFill>
                  <a:schemeClr val="bg2">
                    <a:lumMod val="10000"/>
                  </a:schemeClr>
                </a:solidFill>
              </a:rPr>
              <a:t>Support data-driven agricultural planning and decision-making.</a:t>
            </a:r>
            <a:endParaRPr lang="en-US" altLang="en-US" sz="5600" dirty="0">
              <a:solidFill>
                <a:schemeClr val="bg2">
                  <a:lumMod val="10000"/>
                </a:schemeClr>
              </a:solidFill>
            </a:endParaRPr>
          </a:p>
          <a:p>
            <a:pPr marL="0" indent="0" algn="l" fontAlgn="auto">
              <a:lnSpc>
                <a:spcPct val="150000"/>
              </a:lnSpc>
              <a:spcBef>
                <a:spcPts val="0"/>
              </a:spcBef>
              <a:buSzPct val="100000"/>
              <a:buNone/>
            </a:pPr>
            <a:r>
              <a:rPr lang="en-US" altLang="en-US" sz="7200" b="1" dirty="0">
                <a:solidFill>
                  <a:schemeClr val="bg2">
                    <a:lumMod val="10000"/>
                  </a:schemeClr>
                </a:solidFill>
              </a:rPr>
              <a:t>Agribusinesses</a:t>
            </a:r>
            <a:r>
              <a:rPr lang="en-US" altLang="en-US" sz="5600" dirty="0">
                <a:solidFill>
                  <a:schemeClr val="bg2">
                    <a:lumMod val="10000"/>
                  </a:schemeClr>
                </a:solidFill>
              </a:rPr>
              <a:t>  </a:t>
            </a:r>
            <a:endParaRPr lang="en-US" altLang="en-US" sz="5600" dirty="0">
              <a:solidFill>
                <a:schemeClr val="bg2">
                  <a:lumMod val="10000"/>
                </a:schemeClr>
              </a:solidFill>
            </a:endParaRPr>
          </a:p>
          <a:p>
            <a:pPr marL="0" indent="0" algn="l">
              <a:lnSpc>
                <a:spcPct val="150000"/>
              </a:lnSpc>
              <a:buClr>
                <a:srgbClr val="000000"/>
              </a:buClr>
              <a:buSzPct val="100000"/>
            </a:pPr>
            <a:r>
              <a:rPr lang="en-US" altLang="en-US" sz="5600" dirty="0"/>
              <a:t>  </a:t>
            </a:r>
            <a:r>
              <a:rPr lang="en-US" altLang="en-US" sz="6400" dirty="0"/>
              <a:t>   </a:t>
            </a:r>
            <a:r>
              <a:rPr lang="en-US" altLang="en-US" sz="6400" dirty="0">
                <a:solidFill>
                  <a:schemeClr val="bg2">
                    <a:lumMod val="10000"/>
                  </a:schemeClr>
                </a:solidFill>
              </a:rPr>
              <a:t> Understand crop profitability, production and market-related patterns.</a:t>
            </a:r>
            <a:endParaRPr lang="en-US" altLang="en-US" sz="5600" dirty="0"/>
          </a:p>
          <a:p>
            <a:pPr marL="0" indent="0" algn="l">
              <a:lnSpc>
                <a:spcPct val="150000"/>
              </a:lnSpc>
              <a:buSzPct val="100000"/>
              <a:buNone/>
            </a:pPr>
            <a:endParaRPr lang="en-US" altLang="en-US" sz="5600" dirty="0"/>
          </a:p>
        </p:txBody>
      </p:sp>
      <p:sp>
        <p:nvSpPr>
          <p:cNvPr id="4" name="Title 3"/>
          <p:cNvSpPr>
            <a:spLocks noGrp="1"/>
          </p:cNvSpPr>
          <p:nvPr>
            <p:ph type="title"/>
          </p:nvPr>
        </p:nvSpPr>
        <p:spPr>
          <a:xfrm>
            <a:off x="449193" y="435292"/>
            <a:ext cx="10046070" cy="802641"/>
          </a:xfrm>
        </p:spPr>
        <p:txBody>
          <a:bodyPr>
            <a:normAutofit/>
          </a:bodyPr>
          <a:lstStyle/>
          <a:p>
            <a:r>
              <a:rPr lang="en-US" sz="3200" dirty="0"/>
              <a:t>WHO ARE THE END USERS?</a:t>
            </a: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1115695" y="1049655"/>
            <a:ext cx="9027795" cy="6129020"/>
          </a:xfrm>
        </p:spPr>
        <p:txBody>
          <a:bodyPr>
            <a:normAutofit fontScale="35000"/>
          </a:bodyPr>
          <a:lstStyle/>
          <a:p>
            <a:pPr marL="457200" lvl="1" indent="0" fontAlgn="auto">
              <a:lnSpc>
                <a:spcPct val="100000"/>
              </a:lnSpc>
              <a:spcBef>
                <a:spcPts val="0"/>
              </a:spcBef>
              <a:buNone/>
            </a:pPr>
            <a:r>
              <a:rPr lang="en-US" altLang="en-US" sz="6400" b="1" dirty="0">
                <a:solidFill>
                  <a:schemeClr val="bg2">
                    <a:lumMod val="10000"/>
                  </a:schemeClr>
                </a:solidFill>
              </a:rPr>
              <a:t>Programming Language</a:t>
            </a:r>
            <a:endParaRPr lang="en-US" altLang="en-US" sz="6400" b="1" dirty="0">
              <a:solidFill>
                <a:schemeClr val="bg2">
                  <a:lumMod val="10000"/>
                </a:schemeClr>
              </a:solidFill>
            </a:endParaRPr>
          </a:p>
          <a:p>
            <a:pPr marL="457200" lvl="1" indent="0" fontAlgn="auto">
              <a:lnSpc>
                <a:spcPct val="150000"/>
              </a:lnSpc>
              <a:spcBef>
                <a:spcPts val="0"/>
              </a:spcBef>
              <a:buClr>
                <a:srgbClr val="000000"/>
              </a:buClr>
              <a:buSzPct val="100000"/>
            </a:pPr>
            <a:r>
              <a:rPr lang="en-US" altLang="en-US" sz="4570" dirty="0">
                <a:solidFill>
                  <a:schemeClr val="bg2">
                    <a:lumMod val="10000"/>
                  </a:schemeClr>
                </a:solidFill>
              </a:rPr>
              <a:t>  Python</a:t>
            </a:r>
            <a:endParaRPr lang="en-US" altLang="en-US" sz="4570" dirty="0">
              <a:solidFill>
                <a:schemeClr val="bg2">
                  <a:lumMod val="10000"/>
                </a:schemeClr>
              </a:solidFill>
            </a:endParaRPr>
          </a:p>
          <a:p>
            <a:pPr marL="457200" lvl="1" indent="0" fontAlgn="auto">
              <a:lnSpc>
                <a:spcPct val="100000"/>
              </a:lnSpc>
              <a:spcBef>
                <a:spcPts val="0"/>
              </a:spcBef>
              <a:buNone/>
            </a:pPr>
            <a:r>
              <a:rPr lang="en-US" altLang="en-US" sz="6400" b="1" dirty="0">
                <a:solidFill>
                  <a:schemeClr val="bg2">
                    <a:lumMod val="10000"/>
                  </a:schemeClr>
                </a:solidFill>
              </a:rPr>
              <a:t>Development Environment</a:t>
            </a:r>
            <a:endParaRPr lang="en-US" altLang="en-US" sz="6400" b="1" dirty="0">
              <a:solidFill>
                <a:schemeClr val="bg2">
                  <a:lumMod val="10000"/>
                </a:schemeClr>
              </a:solidFill>
            </a:endParaRPr>
          </a:p>
          <a:p>
            <a:pPr marL="457200" lvl="1" indent="0" fontAlgn="auto">
              <a:lnSpc>
                <a:spcPct val="150000"/>
              </a:lnSpc>
              <a:spcBef>
                <a:spcPts val="0"/>
              </a:spcBef>
              <a:buClr>
                <a:srgbClr val="000000"/>
              </a:buClr>
              <a:buSzPct val="100000"/>
            </a:pPr>
            <a:r>
              <a:rPr lang="en-US" altLang="en-US" sz="4800" dirty="0">
                <a:solidFill>
                  <a:schemeClr val="bg2">
                    <a:lumMod val="10000"/>
                  </a:schemeClr>
                </a:solidFill>
              </a:rPr>
              <a:t> </a:t>
            </a:r>
            <a:r>
              <a:rPr lang="en-US" altLang="en-US" sz="4570" dirty="0">
                <a:solidFill>
                  <a:schemeClr val="bg2">
                    <a:lumMod val="10000"/>
                  </a:schemeClr>
                </a:solidFill>
              </a:rPr>
              <a:t> Google Colab</a:t>
            </a:r>
            <a:endParaRPr lang="en-US" altLang="en-US" sz="4800" dirty="0">
              <a:solidFill>
                <a:schemeClr val="bg2">
                  <a:lumMod val="10000"/>
                </a:schemeClr>
              </a:solidFill>
            </a:endParaRPr>
          </a:p>
          <a:p>
            <a:pPr marL="457200" lvl="1" indent="0" fontAlgn="auto">
              <a:lnSpc>
                <a:spcPct val="100000"/>
              </a:lnSpc>
              <a:spcBef>
                <a:spcPts val="0"/>
              </a:spcBef>
              <a:buNone/>
            </a:pPr>
            <a:r>
              <a:rPr lang="en-US" altLang="en-US" sz="6400" b="1" dirty="0">
                <a:solidFill>
                  <a:schemeClr val="bg2">
                    <a:lumMod val="10000"/>
                  </a:schemeClr>
                </a:solidFill>
              </a:rPr>
              <a:t>Libraries</a:t>
            </a:r>
            <a:endParaRPr lang="en-US" altLang="en-US" sz="6400" b="1"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Pandas</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NumPy</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Matplotlib</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Seaborn</a:t>
            </a:r>
            <a:endParaRPr lang="en-US" altLang="en-US" sz="4570" dirty="0">
              <a:solidFill>
                <a:schemeClr val="bg2">
                  <a:lumMod val="10000"/>
                </a:schemeClr>
              </a:solidFill>
            </a:endParaRPr>
          </a:p>
          <a:p>
            <a:pPr marL="457200" lvl="1" indent="0" fontAlgn="auto">
              <a:lnSpc>
                <a:spcPct val="150000"/>
              </a:lnSpc>
              <a:spcBef>
                <a:spcPts val="0"/>
              </a:spcBef>
              <a:buNone/>
            </a:pPr>
            <a:r>
              <a:rPr lang="en-US" altLang="en-US" sz="6400" b="1" dirty="0">
                <a:solidFill>
                  <a:schemeClr val="bg2">
                    <a:lumMod val="10000"/>
                  </a:schemeClr>
                </a:solidFill>
              </a:rPr>
              <a:t>Analysis Techniques</a:t>
            </a:r>
            <a:endParaRPr lang="en-US" altLang="en-US" sz="640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800" dirty="0">
                <a:solidFill>
                  <a:schemeClr val="bg2">
                    <a:lumMod val="10000"/>
                  </a:schemeClr>
                </a:solidFill>
              </a:rPr>
              <a:t> </a:t>
            </a:r>
            <a:r>
              <a:rPr lang="en-US" altLang="en-US" sz="4570" dirty="0">
                <a:solidFill>
                  <a:schemeClr val="bg2">
                    <a:lumMod val="10000"/>
                  </a:schemeClr>
                </a:solidFill>
              </a:rPr>
              <a:t> Data Cleaning</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Descriptive Statistics</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GroupBy Analysis</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Univariate Analysis</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Bivariate Analysis</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Multivariate Analysis</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Correlation Analysis</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Outlier Detection</a:t>
            </a:r>
            <a:endParaRPr lang="en-US" altLang="en-US" sz="4570" dirty="0">
              <a:solidFill>
                <a:schemeClr val="bg2">
                  <a:lumMod val="10000"/>
                </a:schemeClr>
              </a:solidFill>
            </a:endParaRPr>
          </a:p>
          <a:p>
            <a:pPr marL="457200" lvl="1" indent="0" fontAlgn="auto">
              <a:lnSpc>
                <a:spcPct val="100000"/>
              </a:lnSpc>
              <a:spcBef>
                <a:spcPts val="0"/>
              </a:spcBef>
              <a:buClr>
                <a:srgbClr val="000000"/>
              </a:buClr>
              <a:buSzPct val="100000"/>
            </a:pPr>
            <a:r>
              <a:rPr lang="en-US" altLang="en-US" sz="4570" dirty="0">
                <a:solidFill>
                  <a:schemeClr val="bg2">
                    <a:lumMod val="10000"/>
                  </a:schemeClr>
                </a:solidFill>
              </a:rPr>
              <a:t>  Comparative Analysis</a:t>
            </a:r>
            <a:endParaRPr lang="en-US" altLang="en-US" sz="4570" dirty="0">
              <a:solidFill>
                <a:schemeClr val="bg2">
                  <a:lumMod val="10000"/>
                </a:schemeClr>
              </a:solidFill>
            </a:endParaRPr>
          </a:p>
        </p:txBody>
      </p:sp>
      <p:sp>
        <p:nvSpPr>
          <p:cNvPr id="9" name="Title 8"/>
          <p:cNvSpPr>
            <a:spLocks noGrp="1"/>
          </p:cNvSpPr>
          <p:nvPr>
            <p:ph type="title"/>
          </p:nvPr>
        </p:nvSpPr>
        <p:spPr>
          <a:xfrm>
            <a:off x="660399" y="201967"/>
            <a:ext cx="5306291" cy="847817"/>
          </a:xfrm>
        </p:spPr>
        <p:txBody>
          <a:bodyPr>
            <a:normAutofit/>
          </a:bodyPr>
          <a:lstStyle/>
          <a:p>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7">
                                            <p:txEl>
                                              <p:pRg st="9" end="9"/>
                                            </p:txEl>
                                          </p:spTgt>
                                        </p:tgtEl>
                                        <p:attrNameLst>
                                          <p:attrName>style.visibility</p:attrName>
                                        </p:attrNameLst>
                                      </p:cBhvr>
                                      <p:to>
                                        <p:strVal val="visible"/>
                                      </p:to>
                                    </p:set>
                                    <p:animEffect transition="in" filter="fade">
                                      <p:cBhvr>
                                        <p:cTn id="59" dur="1000"/>
                                        <p:tgtEl>
                                          <p:spTgt spid="7">
                                            <p:txEl>
                                              <p:pRg st="9" end="9"/>
                                            </p:txEl>
                                          </p:spTgt>
                                        </p:tgtEl>
                                      </p:cBhvr>
                                    </p:animEffect>
                                    <p:anim calcmode="lin" valueType="num">
                                      <p:cBhvr>
                                        <p:cTn id="6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7">
                                            <p:txEl>
                                              <p:pRg st="10" end="10"/>
                                            </p:txEl>
                                          </p:spTgt>
                                        </p:tgtEl>
                                        <p:attrNameLst>
                                          <p:attrName>style.visibility</p:attrName>
                                        </p:attrNameLst>
                                      </p:cBhvr>
                                      <p:to>
                                        <p:strVal val="visible"/>
                                      </p:to>
                                    </p:set>
                                    <p:animEffect transition="in" filter="fade">
                                      <p:cBhvr>
                                        <p:cTn id="64" dur="1000"/>
                                        <p:tgtEl>
                                          <p:spTgt spid="7">
                                            <p:txEl>
                                              <p:pRg st="10" end="10"/>
                                            </p:txEl>
                                          </p:spTgt>
                                        </p:tgtEl>
                                      </p:cBhvr>
                                    </p:animEffect>
                                    <p:anim calcmode="lin" valueType="num">
                                      <p:cBhvr>
                                        <p:cTn id="6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7">
                                            <p:txEl>
                                              <p:pRg st="11" end="11"/>
                                            </p:txEl>
                                          </p:spTgt>
                                        </p:tgtEl>
                                        <p:attrNameLst>
                                          <p:attrName>style.visibility</p:attrName>
                                        </p:attrNameLst>
                                      </p:cBhvr>
                                      <p:to>
                                        <p:strVal val="visible"/>
                                      </p:to>
                                    </p:set>
                                    <p:animEffect transition="in" filter="fade">
                                      <p:cBhvr>
                                        <p:cTn id="69" dur="1000"/>
                                        <p:tgtEl>
                                          <p:spTgt spid="7">
                                            <p:txEl>
                                              <p:pRg st="11" end="11"/>
                                            </p:txEl>
                                          </p:spTgt>
                                        </p:tgtEl>
                                      </p:cBhvr>
                                    </p:animEffect>
                                    <p:anim calcmode="lin" valueType="num">
                                      <p:cBhvr>
                                        <p:cTn id="70"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7">
                                            <p:txEl>
                                              <p:pRg st="12" end="12"/>
                                            </p:txEl>
                                          </p:spTgt>
                                        </p:tgtEl>
                                        <p:attrNameLst>
                                          <p:attrName>style.visibility</p:attrName>
                                        </p:attrNameLst>
                                      </p:cBhvr>
                                      <p:to>
                                        <p:strVal val="visible"/>
                                      </p:to>
                                    </p:set>
                                    <p:animEffect transition="in" filter="fade">
                                      <p:cBhvr>
                                        <p:cTn id="74" dur="1000"/>
                                        <p:tgtEl>
                                          <p:spTgt spid="7">
                                            <p:txEl>
                                              <p:pRg st="12" end="12"/>
                                            </p:txEl>
                                          </p:spTgt>
                                        </p:tgtEl>
                                      </p:cBhvr>
                                    </p:animEffect>
                                    <p:anim calcmode="lin" valueType="num">
                                      <p:cBhvr>
                                        <p:cTn id="7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76"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7">
                                            <p:txEl>
                                              <p:pRg st="13" end="13"/>
                                            </p:txEl>
                                          </p:spTgt>
                                        </p:tgtEl>
                                        <p:attrNameLst>
                                          <p:attrName>style.visibility</p:attrName>
                                        </p:attrNameLst>
                                      </p:cBhvr>
                                      <p:to>
                                        <p:strVal val="visible"/>
                                      </p:to>
                                    </p:set>
                                    <p:animEffect transition="in" filter="fade">
                                      <p:cBhvr>
                                        <p:cTn id="79" dur="1000"/>
                                        <p:tgtEl>
                                          <p:spTgt spid="7">
                                            <p:txEl>
                                              <p:pRg st="13" end="13"/>
                                            </p:txEl>
                                          </p:spTgt>
                                        </p:tgtEl>
                                      </p:cBhvr>
                                    </p:animEffect>
                                    <p:anim calcmode="lin" valueType="num">
                                      <p:cBhvr>
                                        <p:cTn id="8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81"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7">
                                            <p:txEl>
                                              <p:pRg st="14" end="14"/>
                                            </p:txEl>
                                          </p:spTgt>
                                        </p:tgtEl>
                                        <p:attrNameLst>
                                          <p:attrName>style.visibility</p:attrName>
                                        </p:attrNameLst>
                                      </p:cBhvr>
                                      <p:to>
                                        <p:strVal val="visible"/>
                                      </p:to>
                                    </p:set>
                                    <p:animEffect transition="in" filter="fade">
                                      <p:cBhvr>
                                        <p:cTn id="84" dur="1000"/>
                                        <p:tgtEl>
                                          <p:spTgt spid="7">
                                            <p:txEl>
                                              <p:pRg st="14" end="14"/>
                                            </p:txEl>
                                          </p:spTgt>
                                        </p:tgtEl>
                                      </p:cBhvr>
                                    </p:animEffect>
                                    <p:anim calcmode="lin" valueType="num">
                                      <p:cBhvr>
                                        <p:cTn id="85"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4" end="14"/>
                                            </p:txEl>
                                          </p:spTgt>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7">
                                            <p:txEl>
                                              <p:pRg st="15" end="15"/>
                                            </p:txEl>
                                          </p:spTgt>
                                        </p:tgtEl>
                                        <p:attrNameLst>
                                          <p:attrName>style.visibility</p:attrName>
                                        </p:attrNameLst>
                                      </p:cBhvr>
                                      <p:to>
                                        <p:strVal val="visible"/>
                                      </p:to>
                                    </p:set>
                                    <p:animEffect transition="in" filter="fade">
                                      <p:cBhvr>
                                        <p:cTn id="89" dur="1000"/>
                                        <p:tgtEl>
                                          <p:spTgt spid="7">
                                            <p:txEl>
                                              <p:pRg st="15" end="15"/>
                                            </p:txEl>
                                          </p:spTgt>
                                        </p:tgtEl>
                                      </p:cBhvr>
                                    </p:animEffect>
                                    <p:anim calcmode="lin" valueType="num">
                                      <p:cBhvr>
                                        <p:cTn id="9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91" dur="1000" fill="hold"/>
                                        <p:tgtEl>
                                          <p:spTgt spid="7">
                                            <p:txEl>
                                              <p:pRg st="15" end="15"/>
                                            </p:tx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7">
                                            <p:txEl>
                                              <p:pRg st="16" end="16"/>
                                            </p:txEl>
                                          </p:spTgt>
                                        </p:tgtEl>
                                        <p:attrNameLst>
                                          <p:attrName>style.visibility</p:attrName>
                                        </p:attrNameLst>
                                      </p:cBhvr>
                                      <p:to>
                                        <p:strVal val="visible"/>
                                      </p:to>
                                    </p:set>
                                    <p:animEffect transition="in" filter="fade">
                                      <p:cBhvr>
                                        <p:cTn id="94" dur="1000"/>
                                        <p:tgtEl>
                                          <p:spTgt spid="7">
                                            <p:txEl>
                                              <p:pRg st="16" end="16"/>
                                            </p:txEl>
                                          </p:spTgt>
                                        </p:tgtEl>
                                      </p:cBhvr>
                                    </p:animEffect>
                                    <p:anim calcmode="lin" valueType="num">
                                      <p:cBhvr>
                                        <p:cTn id="95"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96" dur="1000" fill="hold"/>
                                        <p:tgtEl>
                                          <p:spTgt spid="7">
                                            <p:txEl>
                                              <p:pRg st="16" end="16"/>
                                            </p:txEl>
                                          </p:spTgt>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7">
                                            <p:txEl>
                                              <p:pRg st="17" end="17"/>
                                            </p:txEl>
                                          </p:spTgt>
                                        </p:tgtEl>
                                        <p:attrNameLst>
                                          <p:attrName>style.visibility</p:attrName>
                                        </p:attrNameLst>
                                      </p:cBhvr>
                                      <p:to>
                                        <p:strVal val="visible"/>
                                      </p:to>
                                    </p:set>
                                    <p:animEffect transition="in" filter="fade">
                                      <p:cBhvr>
                                        <p:cTn id="99" dur="1000"/>
                                        <p:tgtEl>
                                          <p:spTgt spid="7">
                                            <p:txEl>
                                              <p:pRg st="17" end="17"/>
                                            </p:txEl>
                                          </p:spTgt>
                                        </p:tgtEl>
                                      </p:cBhvr>
                                    </p:animEffect>
                                    <p:anim calcmode="lin" valueType="num">
                                      <p:cBhvr>
                                        <p:cTn id="100" dur="1000" fill="hold"/>
                                        <p:tgtEl>
                                          <p:spTgt spid="7">
                                            <p:txEl>
                                              <p:pRg st="17" end="17"/>
                                            </p:txEl>
                                          </p:spTgt>
                                        </p:tgtEl>
                                        <p:attrNameLst>
                                          <p:attrName>ppt_x</p:attrName>
                                        </p:attrNameLst>
                                      </p:cBhvr>
                                      <p:tavLst>
                                        <p:tav tm="0">
                                          <p:val>
                                            <p:strVal val="#ppt_x"/>
                                          </p:val>
                                        </p:tav>
                                        <p:tav tm="100000">
                                          <p:val>
                                            <p:strVal val="#ppt_x"/>
                                          </p:val>
                                        </p:tav>
                                      </p:tavLst>
                                    </p:anim>
                                    <p:anim calcmode="lin" valueType="num">
                                      <p:cBhvr>
                                        <p:cTn id="101" dur="1000" fill="hold"/>
                                        <p:tgtEl>
                                          <p:spTgt spid="7">
                                            <p:txEl>
                                              <p:pRg st="17" end="17"/>
                                            </p:txEl>
                                          </p:spTgt>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7">
                                            <p:txEl>
                                              <p:pRg st="18" end="18"/>
                                            </p:txEl>
                                          </p:spTgt>
                                        </p:tgtEl>
                                        <p:attrNameLst>
                                          <p:attrName>style.visibility</p:attrName>
                                        </p:attrNameLst>
                                      </p:cBhvr>
                                      <p:to>
                                        <p:strVal val="visible"/>
                                      </p:to>
                                    </p:set>
                                    <p:animEffect transition="in" filter="fade">
                                      <p:cBhvr>
                                        <p:cTn id="104" dur="1000"/>
                                        <p:tgtEl>
                                          <p:spTgt spid="7">
                                            <p:txEl>
                                              <p:pRg st="18" end="18"/>
                                            </p:txEl>
                                          </p:spTgt>
                                        </p:tgtEl>
                                      </p:cBhvr>
                                    </p:animEffect>
                                    <p:anim calcmode="lin" valueType="num">
                                      <p:cBhvr>
                                        <p:cTn id="105" dur="1000" fill="hold"/>
                                        <p:tgtEl>
                                          <p:spTgt spid="7">
                                            <p:txEl>
                                              <p:pRg st="18" end="18"/>
                                            </p:txEl>
                                          </p:spTgt>
                                        </p:tgtEl>
                                        <p:attrNameLst>
                                          <p:attrName>ppt_x</p:attrName>
                                        </p:attrNameLst>
                                      </p:cBhvr>
                                      <p:tavLst>
                                        <p:tav tm="0">
                                          <p:val>
                                            <p:strVal val="#ppt_x"/>
                                          </p:val>
                                        </p:tav>
                                        <p:tav tm="100000">
                                          <p:val>
                                            <p:strVal val="#ppt_x"/>
                                          </p:val>
                                        </p:tav>
                                      </p:tavLst>
                                    </p:anim>
                                    <p:anim calcmode="lin" valueType="num">
                                      <p:cBhvr>
                                        <p:cTn id="106" dur="1000" fill="hold"/>
                                        <p:tgtEl>
                                          <p:spTgt spid="7">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7334" y="345440"/>
            <a:ext cx="8596668" cy="1320800"/>
          </a:xfrm>
        </p:spPr>
        <p:txBody>
          <a:bodyPr>
            <a:normAutofit/>
          </a:bodyPr>
          <a:lstStyle/>
          <a:p>
            <a:r>
              <a:rPr lang="en-GB" b="1" dirty="0">
                <a:solidFill>
                  <a:schemeClr val="tx1"/>
                </a:solidFill>
              </a:rPr>
              <a:t>RESULTS</a:t>
            </a:r>
            <a:r>
              <a:rPr lang="en-GB" dirty="0">
                <a:solidFill>
                  <a:schemeClr val="tx1"/>
                </a:solidFill>
              </a:rPr>
              <a:t> </a:t>
            </a:r>
            <a:endParaRPr lang="en-GB" dirty="0">
              <a:solidFill>
                <a:schemeClr val="tx1"/>
              </a:solidFill>
            </a:endParaRPr>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descr="Screenshot 2026-09-13 232929"/>
          <p:cNvPicPr>
            <a:picLocks noChangeAspect="1"/>
          </p:cNvPicPr>
          <p:nvPr/>
        </p:nvPicPr>
        <p:blipFill>
          <a:blip r:embed="rId2"/>
          <a:srcRect l="-77" t="-328" r="33214" b="29746"/>
          <a:stretch>
            <a:fillRect/>
          </a:stretch>
        </p:blipFill>
        <p:spPr>
          <a:xfrm>
            <a:off x="2352040" y="1026795"/>
            <a:ext cx="3743960" cy="1737360"/>
          </a:xfrm>
          <a:prstGeom prst="rect">
            <a:avLst/>
          </a:prstGeom>
        </p:spPr>
      </p:pic>
      <p:sp>
        <p:nvSpPr>
          <p:cNvPr id="14" name="Text Box 13"/>
          <p:cNvSpPr txBox="1"/>
          <p:nvPr/>
        </p:nvSpPr>
        <p:spPr>
          <a:xfrm>
            <a:off x="1689735" y="1930400"/>
            <a:ext cx="5599430" cy="635000"/>
          </a:xfrm>
          <a:prstGeom prst="rect">
            <a:avLst/>
          </a:prstGeom>
        </p:spPr>
        <p:txBody>
          <a:bodyPr/>
          <a:p>
            <a:endParaRPr sz="1600"/>
          </a:p>
        </p:txBody>
      </p:sp>
      <p:pic>
        <p:nvPicPr>
          <p:cNvPr id="15" name="Picture 14"/>
          <p:cNvPicPr/>
          <p:nvPr/>
        </p:nvPicPr>
        <p:blipFill>
          <a:blip r:embed="rId3"/>
          <a:stretch>
            <a:fillRect/>
          </a:stretch>
        </p:blipFill>
        <p:spPr>
          <a:xfrm>
            <a:off x="975995" y="2829560"/>
            <a:ext cx="7999095" cy="40284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 Box 5"/>
          <p:cNvSpPr txBox="1"/>
          <p:nvPr/>
        </p:nvSpPr>
        <p:spPr>
          <a:xfrm>
            <a:off x="119380" y="654685"/>
            <a:ext cx="3054985" cy="441325"/>
          </a:xfrm>
          <a:prstGeom prst="rect">
            <a:avLst/>
          </a:prstGeom>
        </p:spPr>
        <p:txBody>
          <a:bodyPr/>
          <a:p>
            <a:endParaRPr sz="1600"/>
          </a:p>
        </p:txBody>
      </p:sp>
      <p:pic>
        <p:nvPicPr>
          <p:cNvPr id="9" name="Picture 8"/>
          <p:cNvPicPr/>
          <p:nvPr/>
        </p:nvPicPr>
        <p:blipFill>
          <a:blip r:embed="rId2"/>
          <a:stretch>
            <a:fillRect/>
          </a:stretch>
        </p:blipFill>
        <p:spPr>
          <a:xfrm>
            <a:off x="119380" y="2832735"/>
            <a:ext cx="5020310" cy="3832225"/>
          </a:xfrm>
          <a:prstGeom prst="rect">
            <a:avLst/>
          </a:prstGeom>
        </p:spPr>
      </p:pic>
      <p:pic>
        <p:nvPicPr>
          <p:cNvPr id="11" name="Picture 10" descr="Screenshot 2026-09-13 234028"/>
          <p:cNvPicPr>
            <a:picLocks noChangeAspect="1"/>
          </p:cNvPicPr>
          <p:nvPr/>
        </p:nvPicPr>
        <p:blipFill>
          <a:blip r:embed="rId3"/>
          <a:stretch>
            <a:fillRect/>
          </a:stretch>
        </p:blipFill>
        <p:spPr>
          <a:xfrm>
            <a:off x="320675" y="1096010"/>
            <a:ext cx="4048125" cy="1736725"/>
          </a:xfrm>
          <a:prstGeom prst="rect">
            <a:avLst/>
          </a:prstGeom>
        </p:spPr>
      </p:pic>
      <p:sp>
        <p:nvSpPr>
          <p:cNvPr id="12" name="Text Box 11"/>
          <p:cNvSpPr txBox="1"/>
          <p:nvPr/>
        </p:nvSpPr>
        <p:spPr>
          <a:xfrm>
            <a:off x="5001260" y="921385"/>
            <a:ext cx="3921125" cy="635000"/>
          </a:xfrm>
          <a:prstGeom prst="rect">
            <a:avLst/>
          </a:prstGeom>
        </p:spPr>
        <p:txBody>
          <a:bodyPr/>
          <a:p>
            <a:endParaRPr sz="1600"/>
          </a:p>
        </p:txBody>
      </p:sp>
      <p:pic>
        <p:nvPicPr>
          <p:cNvPr id="13" name="Picture 12"/>
          <p:cNvPicPr/>
          <p:nvPr/>
        </p:nvPicPr>
        <p:blipFill>
          <a:blip r:embed="rId4"/>
          <a:stretch>
            <a:fillRect/>
          </a:stretch>
        </p:blipFill>
        <p:spPr>
          <a:xfrm>
            <a:off x="5592445" y="1556385"/>
            <a:ext cx="5526405" cy="43802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49225" y="-185420"/>
            <a:ext cx="4220210" cy="489585"/>
          </a:xfrm>
          <a:prstGeom prst="rect">
            <a:avLst/>
          </a:prstGeom>
        </p:spPr>
        <p:txBody>
          <a:bodyPr/>
          <a:p>
            <a:endParaRPr sz="1600"/>
          </a:p>
        </p:txBody>
      </p:sp>
      <p:pic>
        <p:nvPicPr>
          <p:cNvPr id="3" name="Picture 2"/>
          <p:cNvPicPr/>
          <p:nvPr/>
        </p:nvPicPr>
        <p:blipFill>
          <a:blip r:embed="rId2"/>
          <a:stretch>
            <a:fillRect/>
          </a:stretch>
        </p:blipFill>
        <p:spPr>
          <a:xfrm>
            <a:off x="5809615" y="1470025"/>
            <a:ext cx="5946775" cy="3917950"/>
          </a:xfrm>
          <a:prstGeom prst="rect">
            <a:avLst/>
          </a:prstGeom>
        </p:spPr>
      </p:pic>
      <p:sp>
        <p:nvSpPr>
          <p:cNvPr id="6" name="Text Box 5"/>
          <p:cNvSpPr txBox="1"/>
          <p:nvPr/>
        </p:nvSpPr>
        <p:spPr>
          <a:xfrm>
            <a:off x="149225" y="880110"/>
            <a:ext cx="4337685" cy="538480"/>
          </a:xfrm>
          <a:prstGeom prst="rect">
            <a:avLst/>
          </a:prstGeom>
        </p:spPr>
        <p:txBody>
          <a:bodyPr/>
          <a:p>
            <a:endParaRPr sz="1600"/>
          </a:p>
        </p:txBody>
      </p:sp>
      <p:pic>
        <p:nvPicPr>
          <p:cNvPr id="9" name="Picture 8"/>
          <p:cNvPicPr/>
          <p:nvPr/>
        </p:nvPicPr>
        <p:blipFill>
          <a:blip r:embed="rId3"/>
          <a:stretch>
            <a:fillRect/>
          </a:stretch>
        </p:blipFill>
        <p:spPr>
          <a:xfrm>
            <a:off x="149225" y="1781175"/>
            <a:ext cx="5355590" cy="3711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03505" y="1011555"/>
            <a:ext cx="4517390" cy="569595"/>
          </a:xfrm>
          <a:prstGeom prst="rect">
            <a:avLst/>
          </a:prstGeom>
        </p:spPr>
        <p:txBody>
          <a:bodyPr/>
          <a:p>
            <a:endParaRPr sz="1600"/>
          </a:p>
        </p:txBody>
      </p:sp>
      <p:pic>
        <p:nvPicPr>
          <p:cNvPr id="3" name="Picture 2"/>
          <p:cNvPicPr/>
          <p:nvPr/>
        </p:nvPicPr>
        <p:blipFill>
          <a:blip r:embed="rId2"/>
          <a:stretch>
            <a:fillRect/>
          </a:stretch>
        </p:blipFill>
        <p:spPr>
          <a:xfrm>
            <a:off x="103505" y="1646555"/>
            <a:ext cx="5992495" cy="3929380"/>
          </a:xfrm>
          <a:prstGeom prst="rect">
            <a:avLst/>
          </a:prstGeom>
        </p:spPr>
      </p:pic>
      <p:sp>
        <p:nvSpPr>
          <p:cNvPr id="6" name="Text Box 5"/>
          <p:cNvSpPr txBox="1"/>
          <p:nvPr/>
        </p:nvSpPr>
        <p:spPr>
          <a:xfrm>
            <a:off x="6047105" y="569595"/>
            <a:ext cx="4065270" cy="511175"/>
          </a:xfrm>
          <a:prstGeom prst="rect">
            <a:avLst/>
          </a:prstGeom>
        </p:spPr>
        <p:txBody>
          <a:bodyPr/>
          <a:p>
            <a:endParaRPr sz="1600"/>
          </a:p>
        </p:txBody>
      </p:sp>
      <p:pic>
        <p:nvPicPr>
          <p:cNvPr id="9" name="Picture 8"/>
          <p:cNvPicPr/>
          <p:nvPr/>
        </p:nvPicPr>
        <p:blipFill>
          <a:blip r:embed="rId3"/>
          <a:stretch>
            <a:fillRect/>
          </a:stretch>
        </p:blipFill>
        <p:spPr>
          <a:xfrm>
            <a:off x="6096000" y="1275080"/>
            <a:ext cx="5728970" cy="408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21437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06680" y="-1890395"/>
            <a:ext cx="3725545" cy="277495"/>
          </a:xfrm>
          <a:prstGeom prst="rect">
            <a:avLst/>
          </a:prstGeom>
        </p:spPr>
        <p:txBody>
          <a:bodyPr/>
          <a:p>
            <a:endParaRPr sz="1600"/>
          </a:p>
        </p:txBody>
      </p:sp>
      <p:pic>
        <p:nvPicPr>
          <p:cNvPr id="3" name="Picture 2"/>
          <p:cNvPicPr/>
          <p:nvPr/>
        </p:nvPicPr>
        <p:blipFill>
          <a:blip r:embed="rId2"/>
          <a:stretch>
            <a:fillRect/>
          </a:stretch>
        </p:blipFill>
        <p:spPr>
          <a:xfrm>
            <a:off x="320675" y="1045845"/>
            <a:ext cx="9575800" cy="48964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60400" y="556293"/>
            <a:ext cx="4275138" cy="830997"/>
          </a:xfrm>
        </p:spPr>
        <p:txBody>
          <a:bodyPr/>
          <a:p>
            <a:r>
              <a:rPr lang="en-GB" dirty="0">
                <a:sym typeface="+mn-ea"/>
              </a:rPr>
              <a:t>RESULTS</a:t>
            </a:r>
            <a:endParaRPr lang="en-US"/>
          </a:p>
        </p:txBody>
      </p:sp>
      <p:sp>
        <p:nvSpPr>
          <p:cNvPr id="5" name="Text Box 4"/>
          <p:cNvSpPr txBox="1"/>
          <p:nvPr/>
        </p:nvSpPr>
        <p:spPr>
          <a:xfrm>
            <a:off x="133985" y="487045"/>
            <a:ext cx="3493135" cy="464820"/>
          </a:xfrm>
          <a:prstGeom prst="rect">
            <a:avLst/>
          </a:prstGeom>
        </p:spPr>
        <p:txBody>
          <a:bodyPr/>
          <a:p>
            <a:endParaRPr sz="1600"/>
          </a:p>
        </p:txBody>
      </p:sp>
      <p:pic>
        <p:nvPicPr>
          <p:cNvPr id="6" name="Picture 5"/>
          <p:cNvPicPr/>
          <p:nvPr/>
        </p:nvPicPr>
        <p:blipFill>
          <a:blip r:embed="rId1"/>
          <a:stretch>
            <a:fillRect/>
          </a:stretch>
        </p:blipFill>
        <p:spPr>
          <a:xfrm>
            <a:off x="133985" y="1570990"/>
            <a:ext cx="5589270" cy="3716020"/>
          </a:xfrm>
          <a:prstGeom prst="rect">
            <a:avLst/>
          </a:prstGeom>
        </p:spPr>
      </p:pic>
      <p:sp>
        <p:nvSpPr>
          <p:cNvPr id="7" name="Text Box 6"/>
          <p:cNvSpPr txBox="1"/>
          <p:nvPr/>
        </p:nvSpPr>
        <p:spPr>
          <a:xfrm>
            <a:off x="5332095" y="752475"/>
            <a:ext cx="4130040" cy="462915"/>
          </a:xfrm>
          <a:prstGeom prst="rect">
            <a:avLst/>
          </a:prstGeom>
        </p:spPr>
        <p:txBody>
          <a:bodyPr/>
          <a:p>
            <a:endParaRPr sz="1600"/>
          </a:p>
        </p:txBody>
      </p:sp>
      <p:pic>
        <p:nvPicPr>
          <p:cNvPr id="8" name="Picture 7"/>
          <p:cNvPicPr/>
          <p:nvPr/>
        </p:nvPicPr>
        <p:blipFill>
          <a:blip r:embed="rId2"/>
          <a:stretch>
            <a:fillRect/>
          </a:stretch>
        </p:blipFill>
        <p:spPr>
          <a:xfrm>
            <a:off x="5762625" y="1387475"/>
            <a:ext cx="5998845" cy="42183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Future scope</a:t>
            </a:r>
            <a:endParaRPr lang="en-IN" sz="4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793115" y="1381125"/>
            <a:ext cx="5769610" cy="5283200"/>
          </a:xfrm>
          <a:prstGeom prst="rect">
            <a:avLst/>
          </a:prstGeom>
          <a:noFill/>
        </p:spPr>
        <p:txBody>
          <a:bodyPr wrap="square" rtlCol="0">
            <a:noAutofit/>
          </a:bodyPr>
          <a:p>
            <a:pPr indent="0">
              <a:buClr>
                <a:srgbClr val="000000"/>
              </a:buClr>
              <a:buFont typeface="Wingdings" panose="05000000000000000000" charset="0"/>
              <a:buNone/>
            </a:pPr>
            <a:r>
              <a:rPr lang="en-US" altLang="en-US"/>
              <a:t>The project can be extended by:</a:t>
            </a:r>
            <a:endParaRPr lang="en-US" altLang="en-US"/>
          </a:p>
          <a:p>
            <a:pPr marL="285750" indent="-285750">
              <a:buClr>
                <a:srgbClr val="000000"/>
              </a:buClr>
              <a:buFont typeface="Wingdings" panose="05000000000000000000" charset="0"/>
              <a:buChar char="§"/>
            </a:pPr>
            <a:endParaRPr lang="en-US" altLang="en-US"/>
          </a:p>
          <a:p>
            <a:pPr marL="285750" indent="-285750" fontAlgn="auto">
              <a:lnSpc>
                <a:spcPct val="150000"/>
              </a:lnSpc>
              <a:buClr>
                <a:srgbClr val="000000"/>
              </a:buClr>
              <a:buFont typeface="Wingdings" panose="05000000000000000000" charset="0"/>
              <a:buChar char="§"/>
            </a:pPr>
            <a:r>
              <a:rPr lang="en-US" altLang="en-US"/>
              <a:t>Developing a crop-yield prediction model</a:t>
            </a:r>
            <a:endParaRPr lang="en-US" altLang="en-US"/>
          </a:p>
          <a:p>
            <a:pPr marL="285750" indent="-285750" fontAlgn="auto">
              <a:lnSpc>
                <a:spcPct val="150000"/>
              </a:lnSpc>
              <a:buClr>
                <a:srgbClr val="000000"/>
              </a:buClr>
              <a:buFont typeface="Wingdings" panose="05000000000000000000" charset="0"/>
              <a:buChar char="§"/>
            </a:pPr>
            <a:r>
              <a:rPr lang="en-US" altLang="en-US"/>
              <a:t>Predicting agricultural profitability</a:t>
            </a:r>
            <a:endParaRPr lang="en-US" altLang="en-US"/>
          </a:p>
          <a:p>
            <a:pPr marL="285750" indent="-285750" fontAlgn="auto">
              <a:lnSpc>
                <a:spcPct val="150000"/>
              </a:lnSpc>
              <a:buClr>
                <a:srgbClr val="000000"/>
              </a:buClr>
              <a:buFont typeface="Wingdings" panose="05000000000000000000" charset="0"/>
              <a:buChar char="§"/>
            </a:pPr>
            <a:r>
              <a:rPr lang="en-US" altLang="en-US"/>
              <a:t>Building an interactive Power BI / Tableau dashboard</a:t>
            </a:r>
            <a:endParaRPr lang="en-US" altLang="en-US"/>
          </a:p>
          <a:p>
            <a:pPr marL="285750" indent="-285750" fontAlgn="auto">
              <a:lnSpc>
                <a:spcPct val="150000"/>
              </a:lnSpc>
              <a:buClr>
                <a:srgbClr val="000000"/>
              </a:buClr>
              <a:buFont typeface="Wingdings" panose="05000000000000000000" charset="0"/>
              <a:buChar char="§"/>
            </a:pPr>
            <a:r>
              <a:rPr lang="en-US" altLang="en-US"/>
              <a:t>Adding real-time weather information</a:t>
            </a:r>
            <a:endParaRPr lang="en-US" altLang="en-US"/>
          </a:p>
          <a:p>
            <a:pPr marL="285750" indent="-285750" fontAlgn="auto">
              <a:lnSpc>
                <a:spcPct val="150000"/>
              </a:lnSpc>
              <a:buClr>
                <a:srgbClr val="000000"/>
              </a:buClr>
              <a:buFont typeface="Wingdings" panose="05000000000000000000" charset="0"/>
              <a:buChar char="§"/>
            </a:pPr>
            <a:r>
              <a:rPr lang="en-US" altLang="en-US"/>
              <a:t>Adding geographical/map-based analysis</a:t>
            </a:r>
            <a:endParaRPr lang="en-US" altLang="en-US"/>
          </a:p>
          <a:p>
            <a:pPr marL="285750" indent="-285750" fontAlgn="auto">
              <a:lnSpc>
                <a:spcPct val="150000"/>
              </a:lnSpc>
              <a:buClr>
                <a:srgbClr val="000000"/>
              </a:buClr>
              <a:buFont typeface="Wingdings" panose="05000000000000000000" charset="0"/>
              <a:buChar char="§"/>
            </a:pPr>
            <a:r>
              <a:rPr lang="en-US" altLang="en-US"/>
              <a:t>Developing seasonal crop recommendation systems</a:t>
            </a:r>
            <a:endParaRPr lang="en-US" altLang="en-US"/>
          </a:p>
          <a:p>
            <a:pPr marL="285750" indent="-285750" fontAlgn="auto">
              <a:lnSpc>
                <a:spcPct val="150000"/>
              </a:lnSpc>
              <a:buClr>
                <a:srgbClr val="000000"/>
              </a:buClr>
              <a:buFont typeface="Wingdings" panose="05000000000000000000" charset="0"/>
              <a:buChar char="§"/>
            </a:pPr>
            <a:r>
              <a:rPr lang="en-US" altLang="en-US"/>
              <a:t>Using machine learning for disease/pest prediction</a:t>
            </a:r>
            <a:endParaRPr lang="en-US" altLang="en-US"/>
          </a:p>
          <a:p>
            <a:pPr marL="285750" indent="-285750" fontAlgn="auto">
              <a:lnSpc>
                <a:spcPct val="150000"/>
              </a:lnSpc>
              <a:buClr>
                <a:srgbClr val="000000"/>
              </a:buClr>
              <a:buFont typeface="Wingdings" panose="05000000000000000000" charset="0"/>
              <a:buChar char="§"/>
            </a:pPr>
            <a:r>
              <a:rPr lang="en-US" altLang="en-US"/>
              <a:t>Forecasting market prices</a:t>
            </a:r>
            <a:endParaRPr lang="en-US" altLang="en-US"/>
          </a:p>
          <a:p>
            <a:pPr marL="285750" indent="-285750" fontAlgn="auto">
              <a:lnSpc>
                <a:spcPct val="150000"/>
              </a:lnSpc>
              <a:buClr>
                <a:srgbClr val="000000"/>
              </a:buClr>
              <a:buFont typeface="Wingdings" panose="05000000000000000000" charset="0"/>
              <a:buChar char="§"/>
            </a:pPr>
            <a:r>
              <a:rPr lang="en-US" altLang="en-US"/>
              <a:t>Creating an automated agricultural decision-support system</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729891" y="2324240"/>
            <a:ext cx="7232875" cy="645160"/>
          </a:xfrm>
          <a:prstGeom prst="rect">
            <a:avLst/>
          </a:prstGeom>
          <a:noFill/>
        </p:spPr>
        <p:txBody>
          <a:bodyPr wrap="square">
            <a:spAutoFit/>
          </a:bodyPr>
          <a:lstStyle/>
          <a:p>
            <a:r>
              <a:rPr lang="en-US" altLang="en-US" dirty="0"/>
              <a:t>https://github.com/hafiz-mhd/Seasonal-Agriculture-Performance-Analysis.git</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WhatsApp Image 2026-09-13 at 23.54.06"/>
          <p:cNvPicPr>
            <a:picLocks noChangeAspect="1"/>
          </p:cNvPicPr>
          <p:nvPr/>
        </p:nvPicPr>
        <p:blipFill>
          <a:blip r:embed="rId2"/>
          <a:stretch>
            <a:fillRect/>
          </a:stretch>
        </p:blipFill>
        <p:spPr>
          <a:xfrm>
            <a:off x="906780" y="1671320"/>
            <a:ext cx="7888605" cy="46348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608765" y="865505"/>
            <a:ext cx="11340000" cy="700114"/>
          </a:xfrm>
          <a:prstGeom prst="rect">
            <a:avLst/>
          </a:prstGeom>
        </p:spPr>
        <p:txBody>
          <a:bodyPr anchor="ctr">
            <a:normAutofit fontScale="90000"/>
          </a:bodyPr>
          <a:lstStyle/>
          <a:p>
            <a:pPr algn="ctr"/>
            <a:r>
              <a:rPr lang="en-US" sz="4800" b="1" dirty="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12" name="Text Placeholder 11"/>
          <p:cNvSpPr>
            <a:spLocks noGrp="1"/>
          </p:cNvSpPr>
          <p:nvPr>
            <p:ph type="body" sz="quarter" idx="12"/>
          </p:nvPr>
        </p:nvSpPr>
        <p:spPr>
          <a:xfrm>
            <a:off x="4777105" y="2633980"/>
            <a:ext cx="2595880" cy="795020"/>
          </a:xfrm>
        </p:spPr>
        <p:txBody>
          <a:bodyPr>
            <a:noAutofit/>
          </a:bodyPr>
          <a:lstStyle/>
          <a:p>
            <a:r>
              <a:rPr altLang="en-IN" sz="1800" dirty="0"/>
              <a:t>AR Hafiz Muhammed</a:t>
            </a:r>
            <a:endParaRPr altLang="en-I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05D99ABA-76CE-4A8E-B5F0-C051B96628DE}">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3010</Words>
  <Application>WPS Presentation</Application>
  <PresentationFormat>Widescreen</PresentationFormat>
  <Paragraphs>109</Paragraphs>
  <Slides>15</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Arial</vt:lpstr>
      <vt:lpstr>SimSun</vt:lpstr>
      <vt:lpstr>Wingdings</vt:lpstr>
      <vt:lpstr>Wingdings 3</vt:lpstr>
      <vt:lpstr>Arial</vt:lpstr>
      <vt:lpstr>Calibri</vt:lpstr>
      <vt:lpstr>Wingdings</vt:lpstr>
      <vt:lpstr>Trebuchet MS</vt:lpstr>
      <vt:lpstr>Microsoft YaHei</vt:lpstr>
      <vt:lpstr>Arial Unicode MS</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PowerPoint 演示文稿</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Hafiz Muhammed</cp:lastModifiedBy>
  <cp:revision>101</cp:revision>
  <dcterms:created xsi:type="dcterms:W3CDTF">2021-07-11T13:13:00Z</dcterms:created>
  <dcterms:modified xsi:type="dcterms:W3CDTF">2026-09-14T15:49:13Z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1033-12.1.0.28485</vt:lpwstr>
  </property>
  <property fmtid="{D5CDD505-2E9C-101B-9397-08002B2CF9AE}" pid="4" name="ICV">
    <vt:lpwstr>95D140CC51754D3D9AA95FA86DF08047_13</vt:lpwstr>
  </property>
</Properties>
</file>